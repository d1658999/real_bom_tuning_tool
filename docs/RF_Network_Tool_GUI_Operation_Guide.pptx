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1999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RF Network Cascade Tool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Subtitle"/>
          <p:cNvSpPr txBox="1"/>
          <p:nvPr/>
        </p:nvSpPr>
        <p:spPr>
          <a:xfrm>
            <a:off x="594360" y="91440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700">
                <a:solidFill>
                  <a:srgbClr val="374151"/>
                </a:solidFill>
              </a:rPr>
              <a:t>GUI operation guide for S-parameter cascade, BOM tuning, and Fleet optimization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94360" y="1691640"/>
            <a:ext cx="480060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Audience: RF front-end engineers and tool users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Goal: operate the tool confidently from file load to final report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Visuals: local GUI/result images from the project workspace</a:t>
            </a:r>
          </a:p>
        </p:txBody>
      </p:sp>
      <p:pic>
        <p:nvPicPr>
          <p:cNvPr id="6" name="Dual_t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43562"/>
            <a:ext cx="6080760" cy="3690915"/>
          </a:xfrm>
          <a:prstGeom prst="rect">
            <a:avLst/>
          </a:prstGeom>
        </p:spPr>
      </p:pic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1. Main GUI Layout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Left: Loaded S-Parameter Files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Center: Port Configuration and frequency controls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Right: Smith Chart, VSWR, Insertion Loss, and Summary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Toolbar: Run Cascade, Export SNP, Run Fleet, Save Config, Load Config</a:t>
            </a:r>
          </a:p>
        </p:txBody>
      </p:sp>
      <p:sp>
        <p:nvSpPr>
          <p:cNvPr id="5" name="Loaded files"/>
          <p:cNvSpPr/>
          <p:nvPr/>
        </p:nvSpPr>
        <p:spPr>
          <a:xfrm>
            <a:off x="5715000" y="1508760"/>
            <a:ext cx="1645920" cy="3108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0A5FA"/>
            </a:solidFill>
          </a:ln>
        </p:spPr>
      </p:sp>
      <p:sp>
        <p:nvSpPr>
          <p:cNvPr id="6" name="Loaded files"/>
          <p:cNvSpPr txBox="1"/>
          <p:nvPr/>
        </p:nvSpPr>
        <p:spPr>
          <a:xfrm>
            <a:off x="5806440" y="17830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 b="1">
                <a:solidFill>
                  <a:srgbClr val="111827"/>
                </a:solidFill>
              </a:rPr>
              <a:t>Loaded files</a:t>
            </a:r>
          </a:p>
        </p:txBody>
      </p:sp>
      <p:sp>
        <p:nvSpPr>
          <p:cNvPr id="7" name="Add/remove Touchstone files"/>
          <p:cNvSpPr txBox="1"/>
          <p:nvPr/>
        </p:nvSpPr>
        <p:spPr>
          <a:xfrm>
            <a:off x="5806440" y="25603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Add/remove Touchstone files</a:t>
            </a:r>
          </a:p>
        </p:txBody>
      </p:sp>
      <p:sp>
        <p:nvSpPr>
          <p:cNvPr id="8" name="Port configuration"/>
          <p:cNvSpPr/>
          <p:nvPr/>
        </p:nvSpPr>
        <p:spPr>
          <a:xfrm>
            <a:off x="7589520" y="1508760"/>
            <a:ext cx="1645920" cy="310896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</p:spPr>
      </p:sp>
      <p:sp>
        <p:nvSpPr>
          <p:cNvPr id="9" name="Port configuration"/>
          <p:cNvSpPr txBox="1"/>
          <p:nvPr/>
        </p:nvSpPr>
        <p:spPr>
          <a:xfrm>
            <a:off x="7680960" y="17830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 b="1">
                <a:solidFill>
                  <a:srgbClr val="111827"/>
                </a:solidFill>
              </a:rPr>
              <a:t>Port configuration</a:t>
            </a:r>
          </a:p>
        </p:txBody>
      </p:sp>
      <p:sp>
        <p:nvSpPr>
          <p:cNvPr id="10" name="Frequency, port roles, BOM parts"/>
          <p:cNvSpPr txBox="1"/>
          <p:nvPr/>
        </p:nvSpPr>
        <p:spPr>
          <a:xfrm>
            <a:off x="7680960" y="25603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Frequency, port roles, BOM parts</a:t>
            </a:r>
          </a:p>
        </p:txBody>
      </p:sp>
      <p:sp>
        <p:nvSpPr>
          <p:cNvPr id="11" name="Results"/>
          <p:cNvSpPr/>
          <p:nvPr/>
        </p:nvSpPr>
        <p:spPr>
          <a:xfrm>
            <a:off x="9464040" y="1508760"/>
            <a:ext cx="1645920" cy="31089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12" name="Results"/>
          <p:cNvSpPr txBox="1"/>
          <p:nvPr/>
        </p:nvSpPr>
        <p:spPr>
          <a:xfrm>
            <a:off x="9555480" y="17830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 b="1">
                <a:solidFill>
                  <a:srgbClr val="111827"/>
                </a:solidFill>
              </a:rPr>
              <a:t>Results</a:t>
            </a:r>
          </a:p>
        </p:txBody>
      </p:sp>
      <p:sp>
        <p:nvSpPr>
          <p:cNvPr id="13" name="Smith, VSWR, IL, Summary"/>
          <p:cNvSpPr txBox="1"/>
          <p:nvPr/>
        </p:nvSpPr>
        <p:spPr>
          <a:xfrm>
            <a:off x="9555480" y="25603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Smith, VSWR, IL, Summary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2. Load Touchstone Files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Click Add Files... in the left panel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Select one or more .snp files: .s2p, .s3p, .s4p, .s10p, .s12p, and similar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Check that each file appears with the correct port count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Select a file to configure its port rows in the center panel</a:t>
            </a:r>
          </a:p>
        </p:txBody>
      </p:sp>
      <p:sp>
        <p:nvSpPr>
          <p:cNvPr id="5" name="Add Files..."/>
          <p:cNvSpPr/>
          <p:nvPr/>
        </p:nvSpPr>
        <p:spPr>
          <a:xfrm>
            <a:off x="5852160" y="1417320"/>
            <a:ext cx="5074920" cy="6400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6" name="Add Files..."/>
          <p:cNvSpPr txBox="1"/>
          <p:nvPr/>
        </p:nvSpPr>
        <p:spPr>
          <a:xfrm>
            <a:off x="5989320" y="153619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600" b="1">
                <a:solidFill>
                  <a:srgbClr val="1E3A8A"/>
                </a:solidFill>
              </a:rPr>
              <a:t>Add Files...</a:t>
            </a:r>
          </a:p>
        </p:txBody>
      </p:sp>
      <p:sp>
        <p:nvSpPr>
          <p:cNvPr id="7" name="Remove Selected"/>
          <p:cNvSpPr/>
          <p:nvPr/>
        </p:nvSpPr>
        <p:spPr>
          <a:xfrm>
            <a:off x="5852160" y="2331720"/>
            <a:ext cx="5074920" cy="6400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8" name="Remove Selected"/>
          <p:cNvSpPr txBox="1"/>
          <p:nvPr/>
        </p:nvSpPr>
        <p:spPr>
          <a:xfrm>
            <a:off x="5989320" y="245059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600" b="1">
                <a:solidFill>
                  <a:srgbClr val="1E3A8A"/>
                </a:solidFill>
              </a:rPr>
              <a:t>Remove Selected</a:t>
            </a:r>
          </a:p>
        </p:txBody>
      </p:sp>
      <p:sp>
        <p:nvSpPr>
          <p:cNvPr id="9" name="filename.sNp (N ports)"/>
          <p:cNvSpPr/>
          <p:nvPr/>
        </p:nvSpPr>
        <p:spPr>
          <a:xfrm>
            <a:off x="5852160" y="3246120"/>
            <a:ext cx="5074920" cy="6400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10" name="filename.sNp (N ports)"/>
          <p:cNvSpPr txBox="1"/>
          <p:nvPr/>
        </p:nvSpPr>
        <p:spPr>
          <a:xfrm>
            <a:off x="5989320" y="336499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600" b="1">
                <a:solidFill>
                  <a:srgbClr val="1E3A8A"/>
                </a:solidFill>
              </a:rPr>
              <a:t>filename.sNp (N ports)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3. Configure Port Roles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Edit Label if a port name helps the audience understand the topology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Use Termination for open, short, capacitor, inductor, connect, signal, or Fleet sweep modes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Keep unused ports as open or short based on the RF design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Assign external I/O ports as s1, s2, s3, or s4</a:t>
            </a:r>
          </a:p>
        </p:txBody>
      </p:sp>
      <p:sp>
        <p:nvSpPr>
          <p:cNvPr id="5" name="row0"/>
          <p:cNvSpPr/>
          <p:nvPr/>
        </p:nvSpPr>
        <p:spPr>
          <a:xfrm>
            <a:off x="5715000" y="1234440"/>
            <a:ext cx="5440680" cy="530352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D1D5DB"/>
            </a:solidFill>
          </a:ln>
        </p:spPr>
      </p:sp>
      <p:sp>
        <p:nvSpPr>
          <p:cNvPr id="6" name="rowtext0"/>
          <p:cNvSpPr txBox="1"/>
          <p:nvPr/>
        </p:nvSpPr>
        <p:spPr>
          <a:xfrm>
            <a:off x="5852160" y="133502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 b="1">
                <a:solidFill>
                  <a:srgbClr val="111827"/>
                </a:solidFill>
              </a:rPr>
              <a:t>Port # | Label | Termination | Component / Connect</a:t>
            </a:r>
          </a:p>
        </p:txBody>
      </p:sp>
      <p:sp>
        <p:nvSpPr>
          <p:cNvPr id="7" name="row1"/>
          <p:cNvSpPr/>
          <p:nvPr/>
        </p:nvSpPr>
        <p:spPr>
          <a:xfrm>
            <a:off x="5715000" y="1892808"/>
            <a:ext cx="544068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" name="rowtext1"/>
          <p:cNvSpPr txBox="1"/>
          <p:nvPr/>
        </p:nvSpPr>
        <p:spPr>
          <a:xfrm>
            <a:off x="5852160" y="1993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111827"/>
                </a:solidFill>
              </a:rPr>
              <a:t>1 | TX | signal | s1</a:t>
            </a:r>
          </a:p>
        </p:txBody>
      </p:sp>
      <p:sp>
        <p:nvSpPr>
          <p:cNvPr id="9" name="row2"/>
          <p:cNvSpPr/>
          <p:nvPr/>
        </p:nvSpPr>
        <p:spPr>
          <a:xfrm>
            <a:off x="5715000" y="2551176"/>
            <a:ext cx="544068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0" name="rowtext2"/>
          <p:cNvSpPr txBox="1"/>
          <p:nvPr/>
        </p:nvSpPr>
        <p:spPr>
          <a:xfrm>
            <a:off x="5852160" y="26517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111827"/>
                </a:solidFill>
              </a:rPr>
              <a:t>2 | Match | open/ind | 0.2-4.7 nH</a:t>
            </a:r>
          </a:p>
        </p:txBody>
      </p:sp>
      <p:sp>
        <p:nvSpPr>
          <p:cNvPr id="11" name="row3"/>
          <p:cNvSpPr/>
          <p:nvPr/>
        </p:nvSpPr>
        <p:spPr>
          <a:xfrm>
            <a:off x="5715000" y="3209544"/>
            <a:ext cx="544068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2" name="rowtext3"/>
          <p:cNvSpPr txBox="1"/>
          <p:nvPr/>
        </p:nvSpPr>
        <p:spPr>
          <a:xfrm>
            <a:off x="585216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111827"/>
                </a:solidFill>
              </a:rPr>
              <a:t>3 | Link | connect | Filter_A port 1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4. Fixed Components vs Fleet Sweep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capacitor / inductor: pick one fixed BOM component; Fleet treats it as locked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open/ind, open/cap, open/ind/cap: sweep from an open baseline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short/ind, short/cap, short/ind/cap: sweep from a short baseline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Use nH and pF min/max fields to constrain the search space</a:t>
            </a:r>
          </a:p>
        </p:txBody>
      </p:sp>
      <p:sp>
        <p:nvSpPr>
          <p:cNvPr id="5" name="Fixed"/>
          <p:cNvSpPr/>
          <p:nvPr/>
        </p:nvSpPr>
        <p:spPr>
          <a:xfrm>
            <a:off x="5715000" y="1234440"/>
            <a:ext cx="5440680" cy="73152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6" name="Fixed"/>
          <p:cNvSpPr txBox="1"/>
          <p:nvPr/>
        </p:nvSpPr>
        <p:spPr>
          <a:xfrm>
            <a:off x="5897880" y="13258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Fixed</a:t>
            </a:r>
          </a:p>
        </p:txBody>
      </p:sp>
      <p:sp>
        <p:nvSpPr>
          <p:cNvPr id="7" name="capacitor / inductor"/>
          <p:cNvSpPr txBox="1"/>
          <p:nvPr/>
        </p:nvSpPr>
        <p:spPr>
          <a:xfrm>
            <a:off x="7315200" y="13258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 b="1">
                <a:solidFill>
                  <a:srgbClr val="2563EB"/>
                </a:solidFill>
              </a:rPr>
              <a:t>capacitor / inductor</a:t>
            </a:r>
          </a:p>
        </p:txBody>
      </p:sp>
      <p:sp>
        <p:nvSpPr>
          <p:cNvPr id="8" name="Single locked BOM part"/>
          <p:cNvSpPr txBox="1"/>
          <p:nvPr/>
        </p:nvSpPr>
        <p:spPr>
          <a:xfrm>
            <a:off x="8823960" y="132588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Single locked BOM part</a:t>
            </a:r>
          </a:p>
        </p:txBody>
      </p:sp>
      <p:sp>
        <p:nvSpPr>
          <p:cNvPr id="9" name="Open sweep"/>
          <p:cNvSpPr/>
          <p:nvPr/>
        </p:nvSpPr>
        <p:spPr>
          <a:xfrm>
            <a:off x="5715000" y="2194560"/>
            <a:ext cx="5440680" cy="7315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D1D5DB"/>
            </a:solidFill>
          </a:ln>
        </p:spPr>
      </p:sp>
      <p:sp>
        <p:nvSpPr>
          <p:cNvPr id="10" name="Open sweep"/>
          <p:cNvSpPr txBox="1"/>
          <p:nvPr/>
        </p:nvSpPr>
        <p:spPr>
          <a:xfrm>
            <a:off x="5897880" y="228600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Open sweep</a:t>
            </a:r>
          </a:p>
        </p:txBody>
      </p:sp>
      <p:sp>
        <p:nvSpPr>
          <p:cNvPr id="11" name="open/ind/cap"/>
          <p:cNvSpPr txBox="1"/>
          <p:nvPr/>
        </p:nvSpPr>
        <p:spPr>
          <a:xfrm>
            <a:off x="7315200" y="22860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 b="1">
                <a:solidFill>
                  <a:srgbClr val="2563EB"/>
                </a:solidFill>
              </a:rPr>
              <a:t>open/ind/cap</a:t>
            </a:r>
          </a:p>
        </p:txBody>
      </p:sp>
      <p:sp>
        <p:nvSpPr>
          <p:cNvPr id="12" name="Try BOM values from open baseline"/>
          <p:cNvSpPr txBox="1"/>
          <p:nvPr/>
        </p:nvSpPr>
        <p:spPr>
          <a:xfrm>
            <a:off x="8823960" y="228600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Try BOM values from open baseline</a:t>
            </a:r>
          </a:p>
        </p:txBody>
      </p:sp>
      <p:sp>
        <p:nvSpPr>
          <p:cNvPr id="13" name="Short sweep"/>
          <p:cNvSpPr/>
          <p:nvPr/>
        </p:nvSpPr>
        <p:spPr>
          <a:xfrm>
            <a:off x="5715000" y="3154680"/>
            <a:ext cx="5440680" cy="7315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1D5DB"/>
            </a:solidFill>
          </a:ln>
        </p:spPr>
      </p:sp>
      <p:sp>
        <p:nvSpPr>
          <p:cNvPr id="14" name="Short sweep"/>
          <p:cNvSpPr txBox="1"/>
          <p:nvPr/>
        </p:nvSpPr>
        <p:spPr>
          <a:xfrm>
            <a:off x="589788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Short sweep</a:t>
            </a:r>
          </a:p>
        </p:txBody>
      </p:sp>
      <p:sp>
        <p:nvSpPr>
          <p:cNvPr id="15" name="short/ind/cap"/>
          <p:cNvSpPr txBox="1"/>
          <p:nvPr/>
        </p:nvSpPr>
        <p:spPr>
          <a:xfrm>
            <a:off x="7315200" y="324612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 b="1">
                <a:solidFill>
                  <a:srgbClr val="2563EB"/>
                </a:solidFill>
              </a:rPr>
              <a:t>short/ind/cap</a:t>
            </a:r>
          </a:p>
        </p:txBody>
      </p:sp>
      <p:sp>
        <p:nvSpPr>
          <p:cNvPr id="16" name="Try BOM values from short baseline"/>
          <p:cNvSpPr txBox="1"/>
          <p:nvPr/>
        </p:nvSpPr>
        <p:spPr>
          <a:xfrm>
            <a:off x="8823960" y="32461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Try BOM values from short baseline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5. Connect Ports Between Files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Choose connect when one port must be wired to another loaded network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Select target File and target Port in the dynamic control area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Configure the opposite port back to the original file and port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Symmetric connections are required for a trustworthy cascade result</a:t>
            </a:r>
          </a:p>
        </p:txBody>
      </p:sp>
      <p:sp>
        <p:nvSpPr>
          <p:cNvPr id="5" name="File A"/>
          <p:cNvSpPr/>
          <p:nvPr/>
        </p:nvSpPr>
        <p:spPr>
          <a:xfrm>
            <a:off x="5806440" y="1828800"/>
            <a:ext cx="1828800" cy="9144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0A5FA"/>
            </a:solidFill>
          </a:ln>
        </p:spPr>
      </p:sp>
      <p:sp>
        <p:nvSpPr>
          <p:cNvPr id="6" name="File A text"/>
          <p:cNvSpPr txBox="1"/>
          <p:nvPr/>
        </p:nvSpPr>
        <p:spPr>
          <a:xfrm>
            <a:off x="6080760" y="21214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F2937"/>
                </a:solidFill>
              </a:rPr>
              <a:t>File A port 2</a:t>
            </a:r>
          </a:p>
        </p:txBody>
      </p:sp>
      <p:sp>
        <p:nvSpPr>
          <p:cNvPr id="7" name="File B"/>
          <p:cNvSpPr/>
          <p:nvPr/>
        </p:nvSpPr>
        <p:spPr>
          <a:xfrm>
            <a:off x="9144000" y="1828800"/>
            <a:ext cx="1828800" cy="9144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</p:spPr>
      </p:sp>
      <p:sp>
        <p:nvSpPr>
          <p:cNvPr id="8" name="File B text"/>
          <p:cNvSpPr txBox="1"/>
          <p:nvPr/>
        </p:nvSpPr>
        <p:spPr>
          <a:xfrm>
            <a:off x="9418320" y="21214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F2937"/>
                </a:solidFill>
              </a:rPr>
              <a:t>File B port 1</a:t>
            </a:r>
          </a:p>
        </p:txBody>
      </p:sp>
      <p:sp>
        <p:nvSpPr>
          <p:cNvPr id="9" name="Arrow"/>
          <p:cNvSpPr txBox="1"/>
          <p:nvPr/>
        </p:nvSpPr>
        <p:spPr>
          <a:xfrm>
            <a:off x="7845552" y="206654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000" b="1">
                <a:solidFill>
                  <a:srgbClr val="111827"/>
                </a:solidFill>
              </a:rPr>
              <a:t>&lt;----&gt;</a:t>
            </a:r>
          </a:p>
        </p:txBody>
      </p:sp>
      <p:sp>
        <p:nvSpPr>
          <p:cNvPr id="10" name="Symmetric"/>
          <p:cNvSpPr txBox="1"/>
          <p:nvPr/>
        </p:nvSpPr>
        <p:spPr>
          <a:xfrm>
            <a:off x="5989320" y="3154680"/>
            <a:ext cx="4572000" cy="73152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600" b="1">
                <a:solidFill>
                  <a:srgbClr val="92400E"/>
                </a:solidFill>
              </a:rPr>
              <a:t>Both ends must point to each other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6. Signal Ranges and Antenna Rule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At least s1 and s2 are required before Run Cascade and Run Fleet are enabled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Signal indices must be consecutive: s1/s2, then s3, then s4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The highest signal index is treated as the antenna port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Set Start GHz and Stop GHz per non-antenna signal; antenna uses the union range</a:t>
            </a:r>
          </a:p>
        </p:txBody>
      </p:sp>
      <p:sp>
        <p:nvSpPr>
          <p:cNvPr id="5" name="s1: 1.700 - 2.200 GHz"/>
          <p:cNvSpPr/>
          <p:nvPr/>
        </p:nvSpPr>
        <p:spPr>
          <a:xfrm>
            <a:off x="5897880" y="1417320"/>
            <a:ext cx="484632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6" name="s1: 1.700 - 2.200 GHz"/>
          <p:cNvSpPr txBox="1"/>
          <p:nvPr/>
        </p:nvSpPr>
        <p:spPr>
          <a:xfrm>
            <a:off x="6080760" y="153619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>
                <a:solidFill>
                  <a:srgbClr val="111827"/>
                </a:solidFill>
              </a:rPr>
              <a:t>s1: 1.700 - 2.200 GHz</a:t>
            </a:r>
          </a:p>
        </p:txBody>
      </p:sp>
      <p:sp>
        <p:nvSpPr>
          <p:cNvPr id="7" name="s2: 2.300 - 2.700 GHz"/>
          <p:cNvSpPr/>
          <p:nvPr/>
        </p:nvSpPr>
        <p:spPr>
          <a:xfrm>
            <a:off x="5897880" y="2194560"/>
            <a:ext cx="484632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8" name="s2: 2.300 - 2.700 GHz"/>
          <p:cNvSpPr txBox="1"/>
          <p:nvPr/>
        </p:nvSpPr>
        <p:spPr>
          <a:xfrm>
            <a:off x="6080760" y="231343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>
                <a:solidFill>
                  <a:srgbClr val="111827"/>
                </a:solidFill>
              </a:rPr>
              <a:t>s2: 2.300 - 2.700 GHz</a:t>
            </a:r>
          </a:p>
        </p:txBody>
      </p:sp>
      <p:sp>
        <p:nvSpPr>
          <p:cNvPr id="9" name="s3 (ant): 1.700 - 2.700 GHz union"/>
          <p:cNvSpPr/>
          <p:nvPr/>
        </p:nvSpPr>
        <p:spPr>
          <a:xfrm>
            <a:off x="5897880" y="2971800"/>
            <a:ext cx="4846320" cy="530352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0" name="s3 (ant): 1.700 - 2.700 GHz union"/>
          <p:cNvSpPr txBox="1"/>
          <p:nvPr/>
        </p:nvSpPr>
        <p:spPr>
          <a:xfrm>
            <a:off x="6080760" y="309067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400" b="1">
                <a:solidFill>
                  <a:srgbClr val="111827"/>
                </a:solidFill>
              </a:rPr>
              <a:t>s3 (ant): 1.700 - 2.700 GHz union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7. Run Cascade and Read Results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0060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Click Run Cascade after files, connections, and signal ports are valid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Smith Chart shows reflection traces with a VSWR=2 reference circle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VSWR plot confirms match quality across each signal band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IL plot shows transmission from signal paths to the antenna port</a:t>
            </a:r>
          </a:p>
        </p:txBody>
      </p:sp>
      <p:pic>
        <p:nvPicPr>
          <p:cNvPr id="5" name="fina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559616"/>
            <a:ext cx="6080760" cy="2058807"/>
          </a:xfrm>
          <a:prstGeom prst="rect">
            <a:avLst/>
          </a:prstGeom>
        </p:spPr>
      </p:pic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8. Save, Load, and Export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Save Config writes the full setup to JSON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Load Config restores files, port roles, components, connections, and signal ranges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Export SNP is enabled only after a successful cascade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Saved .snp paths are absolute; update paths if the project is moved</a:t>
            </a:r>
          </a:p>
        </p:txBody>
      </p:sp>
      <p:sp>
        <p:nvSpPr>
          <p:cNvPr id="5" name="Save Config -&gt; setup.json"/>
          <p:cNvSpPr/>
          <p:nvPr/>
        </p:nvSpPr>
        <p:spPr>
          <a:xfrm>
            <a:off x="5806440" y="1417320"/>
            <a:ext cx="5166360" cy="658368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6" name="Save Config -&gt; setup.json"/>
          <p:cNvSpPr txBox="1"/>
          <p:nvPr/>
        </p:nvSpPr>
        <p:spPr>
          <a:xfrm>
            <a:off x="5989320" y="15727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 b="1">
                <a:solidFill>
                  <a:srgbClr val="111827"/>
                </a:solidFill>
              </a:rPr>
              <a:t>Save Config -&gt; setup.json</a:t>
            </a:r>
          </a:p>
        </p:txBody>
      </p:sp>
      <p:sp>
        <p:nvSpPr>
          <p:cNvPr id="7" name="Load Config &lt;- setup.json"/>
          <p:cNvSpPr/>
          <p:nvPr/>
        </p:nvSpPr>
        <p:spPr>
          <a:xfrm>
            <a:off x="5806440" y="2331720"/>
            <a:ext cx="5166360" cy="658368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8" name="Load Config &lt;- setup.json"/>
          <p:cNvSpPr txBox="1"/>
          <p:nvPr/>
        </p:nvSpPr>
        <p:spPr>
          <a:xfrm>
            <a:off x="5989320" y="24871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 b="1">
                <a:solidFill>
                  <a:srgbClr val="111827"/>
                </a:solidFill>
              </a:rPr>
              <a:t>Load Config &lt;- setup.json</a:t>
            </a:r>
          </a:p>
        </p:txBody>
      </p:sp>
      <p:sp>
        <p:nvSpPr>
          <p:cNvPr id="9" name="Export SNP -&gt; cascade_result.sNp"/>
          <p:cNvSpPr/>
          <p:nvPr/>
        </p:nvSpPr>
        <p:spPr>
          <a:xfrm>
            <a:off x="5806440" y="3246120"/>
            <a:ext cx="5166360" cy="658368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10" name="Export SNP -&gt; cascade_result.sNp"/>
          <p:cNvSpPr txBox="1"/>
          <p:nvPr/>
        </p:nvSpPr>
        <p:spPr>
          <a:xfrm>
            <a:off x="5989320" y="34015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 b="1">
                <a:solidFill>
                  <a:srgbClr val="111827"/>
                </a:solidFill>
              </a:rPr>
              <a:t>Export SNP -&gt; cascade_result.sNp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9. Run Fleet Optimization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Click Run Fleet to open the Fleet Progress dialog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Fleet only sweeps ports configured as open/* or short/* sweep modes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Fixed capacitor and inductor selections stay locked during optimization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The dialog shows tunable ports, sweep progress, agent summaries, risk scores, and final output path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Close becomes available when the optimizer finishes or reports an error</a:t>
            </a:r>
          </a:p>
        </p:txBody>
      </p:sp>
      <p:sp>
        <p:nvSpPr>
          <p:cNvPr id="5" name="Run Fleet"/>
          <p:cNvSpPr/>
          <p:nvPr/>
        </p:nvSpPr>
        <p:spPr>
          <a:xfrm>
            <a:off x="5715000" y="1234440"/>
            <a:ext cx="5440680" cy="56692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6" name="Run Fleet"/>
          <p:cNvSpPr txBox="1"/>
          <p:nvPr/>
        </p:nvSpPr>
        <p:spPr>
          <a:xfrm>
            <a:off x="5897880" y="135331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Run Fleet</a:t>
            </a:r>
          </a:p>
        </p:txBody>
      </p:sp>
      <p:sp>
        <p:nvSpPr>
          <p:cNvPr id="7" name="Open progress dialog"/>
          <p:cNvSpPr txBox="1"/>
          <p:nvPr/>
        </p:nvSpPr>
        <p:spPr>
          <a:xfrm>
            <a:off x="7543800" y="135331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>
                <a:solidFill>
                  <a:srgbClr val="374151"/>
                </a:solidFill>
              </a:rPr>
              <a:t>Open progress dialog</a:t>
            </a:r>
          </a:p>
        </p:txBody>
      </p:sp>
      <p:sp>
        <p:nvSpPr>
          <p:cNvPr id="8" name="Tunable ports"/>
          <p:cNvSpPr/>
          <p:nvPr/>
        </p:nvSpPr>
        <p:spPr>
          <a:xfrm>
            <a:off x="5715000" y="1984248"/>
            <a:ext cx="5440680" cy="56692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9" name="Tunable ports"/>
          <p:cNvSpPr txBox="1"/>
          <p:nvPr/>
        </p:nvSpPr>
        <p:spPr>
          <a:xfrm>
            <a:off x="5897880" y="21031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Tunable ports</a:t>
            </a:r>
          </a:p>
        </p:txBody>
      </p:sp>
      <p:sp>
        <p:nvSpPr>
          <p:cNvPr id="10" name="List open/* and short/* rows"/>
          <p:cNvSpPr txBox="1"/>
          <p:nvPr/>
        </p:nvSpPr>
        <p:spPr>
          <a:xfrm>
            <a:off x="7543800" y="210312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>
                <a:solidFill>
                  <a:srgbClr val="374151"/>
                </a:solidFill>
              </a:rPr>
              <a:t>List open/* and short/* rows</a:t>
            </a:r>
          </a:p>
        </p:txBody>
      </p:sp>
      <p:sp>
        <p:nvSpPr>
          <p:cNvPr id="11" name="Progress log"/>
          <p:cNvSpPr/>
          <p:nvPr/>
        </p:nvSpPr>
        <p:spPr>
          <a:xfrm>
            <a:off x="5715000" y="2734056"/>
            <a:ext cx="5440680" cy="56692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2" name="Progress log"/>
          <p:cNvSpPr txBox="1"/>
          <p:nvPr/>
        </p:nvSpPr>
        <p:spPr>
          <a:xfrm>
            <a:off x="5897880" y="285292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Progress log</a:t>
            </a:r>
          </a:p>
        </p:txBody>
      </p:sp>
      <p:sp>
        <p:nvSpPr>
          <p:cNvPr id="13" name="Sweep, agents, scores"/>
          <p:cNvSpPr txBox="1"/>
          <p:nvPr/>
        </p:nvSpPr>
        <p:spPr>
          <a:xfrm>
            <a:off x="7543800" y="285292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>
                <a:solidFill>
                  <a:srgbClr val="374151"/>
                </a:solidFill>
              </a:rPr>
              <a:t>Sweep, agents, scores</a:t>
            </a:r>
          </a:p>
        </p:txBody>
      </p:sp>
      <p:sp>
        <p:nvSpPr>
          <p:cNvPr id="14" name="Close"/>
          <p:cNvSpPr/>
          <p:nvPr/>
        </p:nvSpPr>
        <p:spPr>
          <a:xfrm>
            <a:off x="5715000" y="3483864"/>
            <a:ext cx="5440680" cy="56692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5" name="Close"/>
          <p:cNvSpPr txBox="1"/>
          <p:nvPr/>
        </p:nvSpPr>
        <p:spPr>
          <a:xfrm>
            <a:off x="5897880" y="3602736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111827"/>
                </a:solidFill>
              </a:rPr>
              <a:t>Close</a:t>
            </a:r>
          </a:p>
        </p:txBody>
      </p:sp>
      <p:sp>
        <p:nvSpPr>
          <p:cNvPr id="16" name="Enabled after finish/error"/>
          <p:cNvSpPr txBox="1"/>
          <p:nvPr/>
        </p:nvSpPr>
        <p:spPr>
          <a:xfrm>
            <a:off x="7543800" y="360273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>
                <a:solidFill>
                  <a:srgbClr val="374151"/>
                </a:solidFill>
              </a:rPr>
              <a:t>Enabled after finish/error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10. Before Clicking Run Fleet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Save Config first so the original setup can be restored after tuning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Mark tunable ports with open/ind, open/cap, open/ind/cap, short/ind, short/cap, or short/ind/cap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Limit each tunable port with realistic nH and pF ranges to reduce search time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Confirm BOM folders are available and the live candidate counts are not zero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Confirm at least s1 and s2 are defined, consecutive, and frequency ranges overlap the .snp data</a:t>
            </a:r>
          </a:p>
        </p:txBody>
      </p:sp>
      <p:sp>
        <p:nvSpPr>
          <p:cNvPr id="5" name="Save Config"/>
          <p:cNvSpPr/>
          <p:nvPr/>
        </p:nvSpPr>
        <p:spPr>
          <a:xfrm>
            <a:off x="5806440" y="1005840"/>
            <a:ext cx="5257800" cy="475488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6" name="Save Config"/>
          <p:cNvSpPr txBox="1"/>
          <p:nvPr/>
        </p:nvSpPr>
        <p:spPr>
          <a:xfrm>
            <a:off x="5989320" y="1106424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1. Save Config</a:t>
            </a:r>
          </a:p>
        </p:txBody>
      </p:sp>
      <p:sp>
        <p:nvSpPr>
          <p:cNvPr id="7" name="Set sweep modes"/>
          <p:cNvSpPr/>
          <p:nvPr/>
        </p:nvSpPr>
        <p:spPr>
          <a:xfrm>
            <a:off x="5806440" y="1682496"/>
            <a:ext cx="5257800" cy="475488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8" name="Set sweep modes"/>
          <p:cNvSpPr txBox="1"/>
          <p:nvPr/>
        </p:nvSpPr>
        <p:spPr>
          <a:xfrm>
            <a:off x="5989320" y="1783080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2. Set sweep modes</a:t>
            </a:r>
          </a:p>
        </p:txBody>
      </p:sp>
      <p:sp>
        <p:nvSpPr>
          <p:cNvPr id="9" name="Constrain ranges"/>
          <p:cNvSpPr/>
          <p:nvPr/>
        </p:nvSpPr>
        <p:spPr>
          <a:xfrm>
            <a:off x="5806440" y="2359152"/>
            <a:ext cx="5257800" cy="475488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0" name="Constrain ranges"/>
          <p:cNvSpPr txBox="1"/>
          <p:nvPr/>
        </p:nvSpPr>
        <p:spPr>
          <a:xfrm>
            <a:off x="5989320" y="2459736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3. Constrain ranges</a:t>
            </a:r>
          </a:p>
        </p:txBody>
      </p:sp>
      <p:sp>
        <p:nvSpPr>
          <p:cNvPr id="11" name="Check BOM counts"/>
          <p:cNvSpPr/>
          <p:nvPr/>
        </p:nvSpPr>
        <p:spPr>
          <a:xfrm>
            <a:off x="5806440" y="3035808"/>
            <a:ext cx="5257800" cy="475488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2" name="Check BOM counts"/>
          <p:cNvSpPr txBox="1"/>
          <p:nvPr/>
        </p:nvSpPr>
        <p:spPr>
          <a:xfrm>
            <a:off x="5989320" y="3136392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4. Check BOM counts</a:t>
            </a:r>
          </a:p>
        </p:txBody>
      </p:sp>
      <p:sp>
        <p:nvSpPr>
          <p:cNvPr id="13" name="Check signal bands"/>
          <p:cNvSpPr/>
          <p:nvPr/>
        </p:nvSpPr>
        <p:spPr>
          <a:xfrm>
            <a:off x="5806440" y="3712464"/>
            <a:ext cx="5257800" cy="475488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4" name="Check signal bands"/>
          <p:cNvSpPr txBox="1"/>
          <p:nvPr/>
        </p:nvSpPr>
        <p:spPr>
          <a:xfrm>
            <a:off x="5989320" y="3813048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5. Check signal bands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11. What Fleet Does Internally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Phase 1: build the base network and identify all tunable ports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Phase 1: create candidate lists from BOM files, including the baseline open or short option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Phase 1: sweep all component combinations and evaluate valid cascades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Phase 2: run five strategy agents against the shared sweep results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Phase 3: compute normalized production risk scores and choose the lowest-risk winner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Phase 4: save JSON, plots, comparison chart, final decision plot, and Markdown report</a:t>
            </a:r>
          </a:p>
        </p:txBody>
      </p:sp>
      <p:sp>
        <p:nvSpPr>
          <p:cNvPr id="5" name="Phase 1"/>
          <p:cNvSpPr/>
          <p:nvPr/>
        </p:nvSpPr>
        <p:spPr>
          <a:xfrm>
            <a:off x="5669280" y="1325880"/>
            <a:ext cx="2514600" cy="96012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60A5FA"/>
            </a:solidFill>
          </a:ln>
        </p:spPr>
      </p:sp>
      <p:sp>
        <p:nvSpPr>
          <p:cNvPr id="6" name="Phase 1"/>
          <p:cNvSpPr txBox="1"/>
          <p:nvPr/>
        </p:nvSpPr>
        <p:spPr>
          <a:xfrm>
            <a:off x="5806440" y="14904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11827"/>
                </a:solidFill>
              </a:rPr>
              <a:t>Phase 1</a:t>
            </a:r>
          </a:p>
        </p:txBody>
      </p:sp>
      <p:sp>
        <p:nvSpPr>
          <p:cNvPr id="7" name="Sweep BOM combinations"/>
          <p:cNvSpPr txBox="1"/>
          <p:nvPr/>
        </p:nvSpPr>
        <p:spPr>
          <a:xfrm>
            <a:off x="5806440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Sweep BOM combinations</a:t>
            </a:r>
          </a:p>
        </p:txBody>
      </p:sp>
      <p:sp>
        <p:nvSpPr>
          <p:cNvPr id="8" name="Phase 2"/>
          <p:cNvSpPr/>
          <p:nvPr/>
        </p:nvSpPr>
        <p:spPr>
          <a:xfrm>
            <a:off x="8458200" y="1325880"/>
            <a:ext cx="2514600" cy="9601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</p:spPr>
      </p:sp>
      <p:sp>
        <p:nvSpPr>
          <p:cNvPr id="9" name="Phase 2"/>
          <p:cNvSpPr txBox="1"/>
          <p:nvPr/>
        </p:nvSpPr>
        <p:spPr>
          <a:xfrm>
            <a:off x="8595360" y="14904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11827"/>
                </a:solidFill>
              </a:rPr>
              <a:t>Phase 2</a:t>
            </a:r>
          </a:p>
        </p:txBody>
      </p:sp>
      <p:sp>
        <p:nvSpPr>
          <p:cNvPr id="10" name="Run five strategy agents"/>
          <p:cNvSpPr txBox="1"/>
          <p:nvPr/>
        </p:nvSpPr>
        <p:spPr>
          <a:xfrm>
            <a:off x="8595360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Run five strategy agents</a:t>
            </a:r>
          </a:p>
        </p:txBody>
      </p:sp>
      <p:sp>
        <p:nvSpPr>
          <p:cNvPr id="11" name="Phase 3"/>
          <p:cNvSpPr/>
          <p:nvPr/>
        </p:nvSpPr>
        <p:spPr>
          <a:xfrm>
            <a:off x="5669280" y="2880360"/>
            <a:ext cx="2514600" cy="9601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12" name="Phase 3"/>
          <p:cNvSpPr txBox="1"/>
          <p:nvPr/>
        </p:nvSpPr>
        <p:spPr>
          <a:xfrm>
            <a:off x="5806440" y="304495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11827"/>
                </a:solidFill>
              </a:rPr>
              <a:t>Phase 3</a:t>
            </a:r>
          </a:p>
        </p:txBody>
      </p:sp>
      <p:sp>
        <p:nvSpPr>
          <p:cNvPr id="13" name="Score production risk"/>
          <p:cNvSpPr txBox="1"/>
          <p:nvPr/>
        </p:nvSpPr>
        <p:spPr>
          <a:xfrm>
            <a:off x="5806440" y="33832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Score production risk</a:t>
            </a:r>
          </a:p>
        </p:txBody>
      </p:sp>
      <p:sp>
        <p:nvSpPr>
          <p:cNvPr id="14" name="Phase 4"/>
          <p:cNvSpPr/>
          <p:nvPr/>
        </p:nvSpPr>
        <p:spPr>
          <a:xfrm>
            <a:off x="8458200" y="2880360"/>
            <a:ext cx="2514600" cy="96012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F87171"/>
            </a:solidFill>
          </a:ln>
        </p:spPr>
      </p:sp>
      <p:sp>
        <p:nvSpPr>
          <p:cNvPr id="15" name="Phase 4"/>
          <p:cNvSpPr txBox="1"/>
          <p:nvPr/>
        </p:nvSpPr>
        <p:spPr>
          <a:xfrm>
            <a:off x="8595360" y="304495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11827"/>
                </a:solidFill>
              </a:rPr>
              <a:t>Phase 4</a:t>
            </a:r>
          </a:p>
        </p:txBody>
      </p:sp>
      <p:sp>
        <p:nvSpPr>
          <p:cNvPr id="16" name="Save plots and reports"/>
          <p:cNvSpPr txBox="1"/>
          <p:nvPr/>
        </p:nvSpPr>
        <p:spPr>
          <a:xfrm>
            <a:off x="8595360" y="33832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Save plots and reports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12. Five Agent Strategies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Agent 1 - Min BOM: choose the fewest components within 10 percent of the best achievable VSWR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Agent 2 - Balance: trade off low VSWR and low insertion loss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Agent 3 - Min VSWR: strictly minimize peak VSWR across signal ports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Agent 4 - Smith Contour: prefer the tightest Smith-chart cluster near center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Agent 5 - Min IL: maximize transmission by minimizing insertion loss</a:t>
            </a:r>
          </a:p>
        </p:txBody>
      </p:sp>
      <p:sp>
        <p:nvSpPr>
          <p:cNvPr id="5" name="A1"/>
          <p:cNvSpPr/>
          <p:nvPr/>
        </p:nvSpPr>
        <p:spPr>
          <a:xfrm>
            <a:off x="5715000" y="987552"/>
            <a:ext cx="544068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6" name="A1"/>
          <p:cNvSpPr txBox="1"/>
          <p:nvPr/>
        </p:nvSpPr>
        <p:spPr>
          <a:xfrm>
            <a:off x="5870448" y="1069848"/>
            <a:ext cx="5029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2563EB"/>
                </a:solidFill>
              </a:rPr>
              <a:t>A1</a:t>
            </a:r>
          </a:p>
        </p:txBody>
      </p:sp>
      <p:sp>
        <p:nvSpPr>
          <p:cNvPr id="7" name="Min BOM"/>
          <p:cNvSpPr txBox="1"/>
          <p:nvPr/>
        </p:nvSpPr>
        <p:spPr>
          <a:xfrm>
            <a:off x="6446520" y="106984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Min BOM</a:t>
            </a:r>
          </a:p>
        </p:txBody>
      </p:sp>
      <p:sp>
        <p:nvSpPr>
          <p:cNvPr id="8" name="fewest parts near best VSWR"/>
          <p:cNvSpPr txBox="1"/>
          <p:nvPr/>
        </p:nvSpPr>
        <p:spPr>
          <a:xfrm>
            <a:off x="7635240" y="1069848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fewest parts near best VSWR</a:t>
            </a:r>
          </a:p>
        </p:txBody>
      </p:sp>
      <p:sp>
        <p:nvSpPr>
          <p:cNvPr id="9" name="A2"/>
          <p:cNvSpPr/>
          <p:nvPr/>
        </p:nvSpPr>
        <p:spPr>
          <a:xfrm>
            <a:off x="5715000" y="1618488"/>
            <a:ext cx="544068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0" name="A2"/>
          <p:cNvSpPr txBox="1"/>
          <p:nvPr/>
        </p:nvSpPr>
        <p:spPr>
          <a:xfrm>
            <a:off x="5870448" y="1700784"/>
            <a:ext cx="5029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2563EB"/>
                </a:solidFill>
              </a:rPr>
              <a:t>A2</a:t>
            </a:r>
          </a:p>
        </p:txBody>
      </p:sp>
      <p:sp>
        <p:nvSpPr>
          <p:cNvPr id="11" name="Balance"/>
          <p:cNvSpPr txBox="1"/>
          <p:nvPr/>
        </p:nvSpPr>
        <p:spPr>
          <a:xfrm>
            <a:off x="6446520" y="170078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Balance</a:t>
            </a:r>
          </a:p>
        </p:txBody>
      </p:sp>
      <p:sp>
        <p:nvSpPr>
          <p:cNvPr id="12" name="VSWR plus IL"/>
          <p:cNvSpPr txBox="1"/>
          <p:nvPr/>
        </p:nvSpPr>
        <p:spPr>
          <a:xfrm>
            <a:off x="7635240" y="1700784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VSWR plus IL</a:t>
            </a:r>
          </a:p>
        </p:txBody>
      </p:sp>
      <p:sp>
        <p:nvSpPr>
          <p:cNvPr id="13" name="A3"/>
          <p:cNvSpPr/>
          <p:nvPr/>
        </p:nvSpPr>
        <p:spPr>
          <a:xfrm>
            <a:off x="5715000" y="2249424"/>
            <a:ext cx="544068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4" name="A3"/>
          <p:cNvSpPr txBox="1"/>
          <p:nvPr/>
        </p:nvSpPr>
        <p:spPr>
          <a:xfrm>
            <a:off x="5870448" y="2331720"/>
            <a:ext cx="5029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2563EB"/>
                </a:solidFill>
              </a:rPr>
              <a:t>A3</a:t>
            </a:r>
          </a:p>
        </p:txBody>
      </p:sp>
      <p:sp>
        <p:nvSpPr>
          <p:cNvPr id="15" name="Min VSWR"/>
          <p:cNvSpPr txBox="1"/>
          <p:nvPr/>
        </p:nvSpPr>
        <p:spPr>
          <a:xfrm>
            <a:off x="6446520" y="233172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Min VSWR</a:t>
            </a:r>
          </a:p>
        </p:txBody>
      </p:sp>
      <p:sp>
        <p:nvSpPr>
          <p:cNvPr id="16" name="lowest peak VSWR"/>
          <p:cNvSpPr txBox="1"/>
          <p:nvPr/>
        </p:nvSpPr>
        <p:spPr>
          <a:xfrm>
            <a:off x="7635240" y="2331720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lowest peak VSWR</a:t>
            </a:r>
          </a:p>
        </p:txBody>
      </p:sp>
      <p:sp>
        <p:nvSpPr>
          <p:cNvPr id="17" name="A4"/>
          <p:cNvSpPr/>
          <p:nvPr/>
        </p:nvSpPr>
        <p:spPr>
          <a:xfrm>
            <a:off x="5715000" y="2880360"/>
            <a:ext cx="544068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8" name="A4"/>
          <p:cNvSpPr txBox="1"/>
          <p:nvPr/>
        </p:nvSpPr>
        <p:spPr>
          <a:xfrm>
            <a:off x="5870448" y="2962656"/>
            <a:ext cx="5029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2563EB"/>
                </a:solidFill>
              </a:rPr>
              <a:t>A4</a:t>
            </a:r>
          </a:p>
        </p:txBody>
      </p:sp>
      <p:sp>
        <p:nvSpPr>
          <p:cNvPr id="19" name="Smith"/>
          <p:cNvSpPr txBox="1"/>
          <p:nvPr/>
        </p:nvSpPr>
        <p:spPr>
          <a:xfrm>
            <a:off x="6446520" y="2962656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Smith</a:t>
            </a:r>
          </a:p>
        </p:txBody>
      </p:sp>
      <p:sp>
        <p:nvSpPr>
          <p:cNvPr id="20" name="tightest contour"/>
          <p:cNvSpPr txBox="1"/>
          <p:nvPr/>
        </p:nvSpPr>
        <p:spPr>
          <a:xfrm>
            <a:off x="7635240" y="2962656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tightest contour</a:t>
            </a:r>
          </a:p>
        </p:txBody>
      </p:sp>
      <p:sp>
        <p:nvSpPr>
          <p:cNvPr id="21" name="A5"/>
          <p:cNvSpPr/>
          <p:nvPr/>
        </p:nvSpPr>
        <p:spPr>
          <a:xfrm>
            <a:off x="5715000" y="3511296"/>
            <a:ext cx="544068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22" name="A5"/>
          <p:cNvSpPr txBox="1"/>
          <p:nvPr/>
        </p:nvSpPr>
        <p:spPr>
          <a:xfrm>
            <a:off x="5870448" y="3593592"/>
            <a:ext cx="5029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200" b="1">
                <a:solidFill>
                  <a:srgbClr val="2563EB"/>
                </a:solidFill>
              </a:rPr>
              <a:t>A5</a:t>
            </a:r>
          </a:p>
        </p:txBody>
      </p:sp>
      <p:sp>
        <p:nvSpPr>
          <p:cNvPr id="23" name="Min IL"/>
          <p:cNvSpPr txBox="1"/>
          <p:nvPr/>
        </p:nvSpPr>
        <p:spPr>
          <a:xfrm>
            <a:off x="6446520" y="3593592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Min IL</a:t>
            </a:r>
          </a:p>
        </p:txBody>
      </p:sp>
      <p:sp>
        <p:nvSpPr>
          <p:cNvPr id="24" name="best transmission"/>
          <p:cNvSpPr txBox="1"/>
          <p:nvPr/>
        </p:nvSpPr>
        <p:spPr>
          <a:xfrm>
            <a:off x="7635240" y="3593592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best transmission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13. How Risk Score Is Decided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Lower Risk Score is better; the Principal agent selects the lowest value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Score blends normalized metrics so no single raw unit dominates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- 30 percent: worst VSWR under +/-5 percent tolerance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- 25 percent: component count, because simpler BOMs are lower production risk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- 20 percent: VSWR sensitivity under tolerance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- 15 percent: insertion loss penalty, and 10 percent: VSWR spread between ports</a:t>
            </a:r>
          </a:p>
        </p:txBody>
      </p:sp>
      <p:sp>
        <p:nvSpPr>
          <p:cNvPr id="5" name="Risk formula"/>
          <p:cNvSpPr txBox="1"/>
          <p:nvPr/>
        </p:nvSpPr>
        <p:spPr>
          <a:xfrm>
            <a:off x="5715000" y="960120"/>
            <a:ext cx="5440680" cy="41148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 b="1">
                <a:solidFill>
                  <a:srgbClr val="111827"/>
                </a:solidFill>
              </a:rPr>
              <a:t>Risk Score = weighted normalized sum</a:t>
            </a:r>
          </a:p>
        </p:txBody>
      </p:sp>
      <p:sp>
        <p:nvSpPr>
          <p:cNvPr id="6" name="Worst VSWR under +/-5% tolerance"/>
          <p:cNvSpPr/>
          <p:nvPr/>
        </p:nvSpPr>
        <p:spPr>
          <a:xfrm>
            <a:off x="5806440" y="1600200"/>
            <a:ext cx="516636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7" name="0.30"/>
          <p:cNvSpPr txBox="1"/>
          <p:nvPr/>
        </p:nvSpPr>
        <p:spPr>
          <a:xfrm>
            <a:off x="5943600" y="166420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DC2626"/>
                </a:solidFill>
              </a:rPr>
              <a:t>0.30</a:t>
            </a:r>
          </a:p>
        </p:txBody>
      </p:sp>
      <p:sp>
        <p:nvSpPr>
          <p:cNvPr id="8" name="Worst VSWR under +/-5% tolerance"/>
          <p:cNvSpPr txBox="1"/>
          <p:nvPr/>
        </p:nvSpPr>
        <p:spPr>
          <a:xfrm>
            <a:off x="6629400" y="1664208"/>
            <a:ext cx="4069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Worst VSWR under +/-5% tolerance</a:t>
            </a:r>
          </a:p>
        </p:txBody>
      </p:sp>
      <p:sp>
        <p:nvSpPr>
          <p:cNvPr id="9" name="Component count"/>
          <p:cNvSpPr/>
          <p:nvPr/>
        </p:nvSpPr>
        <p:spPr>
          <a:xfrm>
            <a:off x="5806440" y="2130552"/>
            <a:ext cx="516636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0" name="0.25"/>
          <p:cNvSpPr txBox="1"/>
          <p:nvPr/>
        </p:nvSpPr>
        <p:spPr>
          <a:xfrm>
            <a:off x="5943600" y="219456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DC2626"/>
                </a:solidFill>
              </a:rPr>
              <a:t>0.25</a:t>
            </a:r>
          </a:p>
        </p:txBody>
      </p:sp>
      <p:sp>
        <p:nvSpPr>
          <p:cNvPr id="11" name="Component count"/>
          <p:cNvSpPr txBox="1"/>
          <p:nvPr/>
        </p:nvSpPr>
        <p:spPr>
          <a:xfrm>
            <a:off x="6629400" y="2194560"/>
            <a:ext cx="4069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Component count</a:t>
            </a:r>
          </a:p>
        </p:txBody>
      </p:sp>
      <p:sp>
        <p:nvSpPr>
          <p:cNvPr id="12" name="VSWR sensitivity"/>
          <p:cNvSpPr/>
          <p:nvPr/>
        </p:nvSpPr>
        <p:spPr>
          <a:xfrm>
            <a:off x="5806440" y="2660904"/>
            <a:ext cx="516636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3" name="0.20"/>
          <p:cNvSpPr txBox="1"/>
          <p:nvPr/>
        </p:nvSpPr>
        <p:spPr>
          <a:xfrm>
            <a:off x="5943600" y="272491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DC2626"/>
                </a:solidFill>
              </a:rPr>
              <a:t>0.20</a:t>
            </a:r>
          </a:p>
        </p:txBody>
      </p:sp>
      <p:sp>
        <p:nvSpPr>
          <p:cNvPr id="14" name="VSWR sensitivity"/>
          <p:cNvSpPr txBox="1"/>
          <p:nvPr/>
        </p:nvSpPr>
        <p:spPr>
          <a:xfrm>
            <a:off x="6629400" y="2724912"/>
            <a:ext cx="4069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VSWR sensitivity</a:t>
            </a:r>
          </a:p>
        </p:txBody>
      </p:sp>
      <p:sp>
        <p:nvSpPr>
          <p:cNvPr id="15" name="Insertion loss penalty"/>
          <p:cNvSpPr/>
          <p:nvPr/>
        </p:nvSpPr>
        <p:spPr>
          <a:xfrm>
            <a:off x="5806440" y="3191256"/>
            <a:ext cx="516636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6" name="0.15"/>
          <p:cNvSpPr txBox="1"/>
          <p:nvPr/>
        </p:nvSpPr>
        <p:spPr>
          <a:xfrm>
            <a:off x="5943600" y="325526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DC2626"/>
                </a:solidFill>
              </a:rPr>
              <a:t>0.15</a:t>
            </a:r>
          </a:p>
        </p:txBody>
      </p:sp>
      <p:sp>
        <p:nvSpPr>
          <p:cNvPr id="17" name="Insertion loss penalty"/>
          <p:cNvSpPr txBox="1"/>
          <p:nvPr/>
        </p:nvSpPr>
        <p:spPr>
          <a:xfrm>
            <a:off x="6629400" y="3255264"/>
            <a:ext cx="4069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Insertion loss penalty</a:t>
            </a:r>
          </a:p>
        </p:txBody>
      </p:sp>
      <p:sp>
        <p:nvSpPr>
          <p:cNvPr id="18" name="VSWR spread"/>
          <p:cNvSpPr/>
          <p:nvPr/>
        </p:nvSpPr>
        <p:spPr>
          <a:xfrm>
            <a:off x="5806440" y="3721608"/>
            <a:ext cx="516636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</p:sp>
      <p:sp>
        <p:nvSpPr>
          <p:cNvPr id="19" name="0.10"/>
          <p:cNvSpPr txBox="1"/>
          <p:nvPr/>
        </p:nvSpPr>
        <p:spPr>
          <a:xfrm>
            <a:off x="5943600" y="378561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DC2626"/>
                </a:solidFill>
              </a:rPr>
              <a:t>0.10</a:t>
            </a:r>
          </a:p>
        </p:txBody>
      </p:sp>
      <p:sp>
        <p:nvSpPr>
          <p:cNvPr id="20" name="VSWR spread"/>
          <p:cNvSpPr txBox="1"/>
          <p:nvPr/>
        </p:nvSpPr>
        <p:spPr>
          <a:xfrm>
            <a:off x="6629400" y="3785616"/>
            <a:ext cx="40690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000">
                <a:solidFill>
                  <a:srgbClr val="374151"/>
                </a:solidFill>
              </a:rPr>
              <a:t>VSWR spread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14. Read fleet_comparison.png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0060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Use this chart to compare all five agents side by side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VSWR S11 Max: worst match across non-antenna signal ports; lower is better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VSWR S22 Max: antenna/common-port VSWR across the union of signal bands; lower is better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Worst IL (dB): most negative transmission value; closer to 0 dB is better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Component Count: number of non-baseline assigned parts; lower is usually safer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Risk Score: final combined ranking metric; lowest bar is the production recommendation</a:t>
            </a:r>
          </a:p>
        </p:txBody>
      </p:sp>
      <p:pic>
        <p:nvPicPr>
          <p:cNvPr id="5" name="fle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977966"/>
            <a:ext cx="6080760" cy="3222108"/>
          </a:xfrm>
          <a:prstGeom prst="rect">
            <a:avLst/>
          </a:prstGeom>
        </p:spPr>
      </p:pic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15. Read final_decision.png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0060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The title names the winning agent, risk score, and strategy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Smith Chart shows the final reflection loci; traces closer to center indicate better match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Dashed reference circles/lines help identify VSWR targets such as 1.4 and 2.0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VSWR plot verifies pass/fail behavior across the selected frequency ranges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IL plot shows each signal-to-antenna path; flatter and closer to 0 dB is better</a:t>
            </a:r>
          </a:p>
        </p:txBody>
      </p:sp>
      <p:pic>
        <p:nvPicPr>
          <p:cNvPr id="5" name="fina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559616"/>
            <a:ext cx="6080760" cy="2058807"/>
          </a:xfrm>
          <a:prstGeom prst="rect">
            <a:avLst/>
          </a:prstGeom>
        </p:spPr>
      </p:pic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16. Read JSON and fleet_report.md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agent_N_result.json records each agent's selected assignments and metrics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assignments show network_id, port_index, final term_type, component_name, and component_path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fleet_report.md starts with the Winner, Strategy, Risk Score, and selection reason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The comparison table is the fastest way to explain tradeoffs in a design review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Final Component Assignments is the list to copy back into the GUI or BOM tuning record</a:t>
            </a:r>
          </a:p>
        </p:txBody>
      </p:sp>
      <p:sp>
        <p:nvSpPr>
          <p:cNvPr id="5" name="agent_N_result.json: exact chosen assignments"/>
          <p:cNvSpPr/>
          <p:nvPr/>
        </p:nvSpPr>
        <p:spPr>
          <a:xfrm>
            <a:off x="5715000" y="1005840"/>
            <a:ext cx="5440680" cy="457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6" name="agent_N_result.json: exact chosen assignments"/>
          <p:cNvSpPr txBox="1"/>
          <p:nvPr/>
        </p:nvSpPr>
        <p:spPr>
          <a:xfrm>
            <a:off x="5897880" y="1097280"/>
            <a:ext cx="49834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agent_N_result.json: exact chosen assignments</a:t>
            </a:r>
          </a:p>
        </p:txBody>
      </p:sp>
      <p:sp>
        <p:nvSpPr>
          <p:cNvPr id="7" name="agent_N_*.png: per-agent Smith/VSWR/IL"/>
          <p:cNvSpPr/>
          <p:nvPr/>
        </p:nvSpPr>
        <p:spPr>
          <a:xfrm>
            <a:off x="5715000" y="1664208"/>
            <a:ext cx="5440680" cy="457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8" name="agent_N_*.png: per-agent Smith/VSWR/IL"/>
          <p:cNvSpPr txBox="1"/>
          <p:nvPr/>
        </p:nvSpPr>
        <p:spPr>
          <a:xfrm>
            <a:off x="5897880" y="1755648"/>
            <a:ext cx="49834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agent_N_*.png: per-agent Smith/VSWR/IL</a:t>
            </a:r>
          </a:p>
        </p:txBody>
      </p:sp>
      <p:sp>
        <p:nvSpPr>
          <p:cNvPr id="9" name="fleet_comparison.png: compare strategies"/>
          <p:cNvSpPr/>
          <p:nvPr/>
        </p:nvSpPr>
        <p:spPr>
          <a:xfrm>
            <a:off x="5715000" y="2322576"/>
            <a:ext cx="5440680" cy="457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10" name="fleet_comparison.png: compare strategies"/>
          <p:cNvSpPr txBox="1"/>
          <p:nvPr/>
        </p:nvSpPr>
        <p:spPr>
          <a:xfrm>
            <a:off x="5897880" y="2414016"/>
            <a:ext cx="49834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fleet_comparison.png: compare strategies</a:t>
            </a:r>
          </a:p>
        </p:txBody>
      </p:sp>
      <p:sp>
        <p:nvSpPr>
          <p:cNvPr id="11" name="final_decision.png: winning plots"/>
          <p:cNvSpPr/>
          <p:nvPr/>
        </p:nvSpPr>
        <p:spPr>
          <a:xfrm>
            <a:off x="5715000" y="2980944"/>
            <a:ext cx="5440680" cy="457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12" name="final_decision.png: winning plots"/>
          <p:cNvSpPr txBox="1"/>
          <p:nvPr/>
        </p:nvSpPr>
        <p:spPr>
          <a:xfrm>
            <a:off x="5897880" y="3072384"/>
            <a:ext cx="49834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final_decision.png: winning plots</a:t>
            </a:r>
          </a:p>
        </p:txBody>
      </p:sp>
      <p:sp>
        <p:nvSpPr>
          <p:cNvPr id="13" name="fleet_report.md: design-review summary"/>
          <p:cNvSpPr/>
          <p:nvPr/>
        </p:nvSpPr>
        <p:spPr>
          <a:xfrm>
            <a:off x="5715000" y="3639312"/>
            <a:ext cx="5440680" cy="4572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9CA3AF"/>
            </a:solidFill>
          </a:ln>
        </p:spPr>
      </p:sp>
      <p:sp>
        <p:nvSpPr>
          <p:cNvPr id="14" name="fleet_report.md: design-review summary"/>
          <p:cNvSpPr txBox="1"/>
          <p:nvPr/>
        </p:nvSpPr>
        <p:spPr>
          <a:xfrm>
            <a:off x="5897880" y="3730752"/>
            <a:ext cx="49834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111827"/>
                </a:solidFill>
              </a:rPr>
              <a:t>fleet_report.md: design-review summary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17. Run Fleet Troubleshooting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Run Fleet disabled: define consecutive signal ports starting at s1 and s2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No tunable ports: change at least one port to an open/* or short/* sweep mode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Empty or slow sweep: tighten nH/pF ranges and confirm BOM folders are populated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Empty plots or no valid configurations: check signal frequency ranges overlap all loaded .snp files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Unexpected winner: compare risk score, component count, VSWR tolerance, and IL rather than one metric alone</a:t>
            </a:r>
          </a:p>
        </p:txBody>
      </p:sp>
      <p:sp>
        <p:nvSpPr>
          <p:cNvPr id="5" name="Disabled"/>
          <p:cNvSpPr/>
          <p:nvPr/>
        </p:nvSpPr>
        <p:spPr>
          <a:xfrm>
            <a:off x="5715000" y="1005840"/>
            <a:ext cx="5440680" cy="4572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</p:sp>
      <p:sp>
        <p:nvSpPr>
          <p:cNvPr id="6" name="Disabled"/>
          <p:cNvSpPr txBox="1"/>
          <p:nvPr/>
        </p:nvSpPr>
        <p:spPr>
          <a:xfrm>
            <a:off x="5897880" y="1097280"/>
            <a:ext cx="13258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92400E"/>
                </a:solidFill>
              </a:rPr>
              <a:t>Disabled</a:t>
            </a:r>
          </a:p>
        </p:txBody>
      </p:sp>
      <p:sp>
        <p:nvSpPr>
          <p:cNvPr id="7" name="fix signal indices"/>
          <p:cNvSpPr txBox="1"/>
          <p:nvPr/>
        </p:nvSpPr>
        <p:spPr>
          <a:xfrm>
            <a:off x="7315200" y="1097280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fix signal indices</a:t>
            </a:r>
          </a:p>
        </p:txBody>
      </p:sp>
      <p:sp>
        <p:nvSpPr>
          <p:cNvPr id="8" name="No tunables"/>
          <p:cNvSpPr/>
          <p:nvPr/>
        </p:nvSpPr>
        <p:spPr>
          <a:xfrm>
            <a:off x="5715000" y="1664208"/>
            <a:ext cx="5440680" cy="4572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</p:sp>
      <p:sp>
        <p:nvSpPr>
          <p:cNvPr id="9" name="No tunables"/>
          <p:cNvSpPr txBox="1"/>
          <p:nvPr/>
        </p:nvSpPr>
        <p:spPr>
          <a:xfrm>
            <a:off x="5897880" y="1755648"/>
            <a:ext cx="13258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92400E"/>
                </a:solidFill>
              </a:rPr>
              <a:t>No tunables</a:t>
            </a:r>
          </a:p>
        </p:txBody>
      </p:sp>
      <p:sp>
        <p:nvSpPr>
          <p:cNvPr id="10" name="use open/* or short/*"/>
          <p:cNvSpPr txBox="1"/>
          <p:nvPr/>
        </p:nvSpPr>
        <p:spPr>
          <a:xfrm>
            <a:off x="7315200" y="1755648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use open/* or short/*</a:t>
            </a:r>
          </a:p>
        </p:txBody>
      </p:sp>
      <p:sp>
        <p:nvSpPr>
          <p:cNvPr id="11" name="Slow"/>
          <p:cNvSpPr/>
          <p:nvPr/>
        </p:nvSpPr>
        <p:spPr>
          <a:xfrm>
            <a:off x="5715000" y="2322576"/>
            <a:ext cx="5440680" cy="4572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</p:sp>
      <p:sp>
        <p:nvSpPr>
          <p:cNvPr id="12" name="Slow"/>
          <p:cNvSpPr txBox="1"/>
          <p:nvPr/>
        </p:nvSpPr>
        <p:spPr>
          <a:xfrm>
            <a:off x="5897880" y="2414016"/>
            <a:ext cx="13258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92400E"/>
                </a:solidFill>
              </a:rPr>
              <a:t>Slow</a:t>
            </a:r>
          </a:p>
        </p:txBody>
      </p:sp>
      <p:sp>
        <p:nvSpPr>
          <p:cNvPr id="13" name="tighten ranges"/>
          <p:cNvSpPr txBox="1"/>
          <p:nvPr/>
        </p:nvSpPr>
        <p:spPr>
          <a:xfrm>
            <a:off x="7315200" y="2414016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tighten ranges</a:t>
            </a:r>
          </a:p>
        </p:txBody>
      </p:sp>
      <p:sp>
        <p:nvSpPr>
          <p:cNvPr id="14" name="No data"/>
          <p:cNvSpPr/>
          <p:nvPr/>
        </p:nvSpPr>
        <p:spPr>
          <a:xfrm>
            <a:off x="5715000" y="2980944"/>
            <a:ext cx="5440680" cy="4572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</p:sp>
      <p:sp>
        <p:nvSpPr>
          <p:cNvPr id="15" name="No data"/>
          <p:cNvSpPr txBox="1"/>
          <p:nvPr/>
        </p:nvSpPr>
        <p:spPr>
          <a:xfrm>
            <a:off x="5897880" y="3072384"/>
            <a:ext cx="13258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92400E"/>
                </a:solidFill>
              </a:rPr>
              <a:t>No data</a:t>
            </a:r>
          </a:p>
        </p:txBody>
      </p:sp>
      <p:sp>
        <p:nvSpPr>
          <p:cNvPr id="16" name="check band overlap"/>
          <p:cNvSpPr txBox="1"/>
          <p:nvPr/>
        </p:nvSpPr>
        <p:spPr>
          <a:xfrm>
            <a:off x="7315200" y="3072384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check band overlap</a:t>
            </a:r>
          </a:p>
        </p:txBody>
      </p:sp>
      <p:sp>
        <p:nvSpPr>
          <p:cNvPr id="17" name="Winner surprise"/>
          <p:cNvSpPr/>
          <p:nvPr/>
        </p:nvSpPr>
        <p:spPr>
          <a:xfrm>
            <a:off x="5715000" y="3639312"/>
            <a:ext cx="5440680" cy="4572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</p:sp>
      <p:sp>
        <p:nvSpPr>
          <p:cNvPr id="18" name="Winner surprise"/>
          <p:cNvSpPr txBox="1"/>
          <p:nvPr/>
        </p:nvSpPr>
        <p:spPr>
          <a:xfrm>
            <a:off x="5897880" y="3730752"/>
            <a:ext cx="13258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 b="1">
                <a:solidFill>
                  <a:srgbClr val="92400E"/>
                </a:solidFill>
              </a:rPr>
              <a:t>Winner surprise</a:t>
            </a:r>
          </a:p>
        </p:txBody>
      </p:sp>
      <p:sp>
        <p:nvSpPr>
          <p:cNvPr id="19" name="read risk tradeoff"/>
          <p:cNvSpPr txBox="1"/>
          <p:nvPr/>
        </p:nvSpPr>
        <p:spPr>
          <a:xfrm>
            <a:off x="7315200" y="3730752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100">
                <a:solidFill>
                  <a:srgbClr val="374151"/>
                </a:solidFill>
              </a:rPr>
              <a:t>read risk tradeoff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2800" b="1">
                <a:solidFill>
                  <a:srgbClr val="111827"/>
                </a:solidFill>
              </a:rPr>
              <a:t>18. Operator Checklist</a:t>
            </a:r>
          </a:p>
        </p:txBody>
      </p:sp>
      <p:sp>
        <p:nvSpPr>
          <p:cNvPr id="3" name="Accent"/>
          <p:cNvSpPr/>
          <p:nvPr/>
        </p:nvSpPr>
        <p:spPr>
          <a:xfrm>
            <a:off x="502920" y="822960"/>
            <a:ext cx="11155680" cy="3200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4" name="Bullets"/>
          <p:cNvSpPr txBox="1"/>
          <p:nvPr/>
        </p:nvSpPr>
        <p:spPr>
          <a:xfrm>
            <a:off x="594360" y="1005840"/>
            <a:ext cx="4892040" cy="5074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500">
                <a:solidFill>
                  <a:srgbClr val="1F2937"/>
                </a:solidFill>
              </a:rPr>
              <a:t>- BOM folders must sit beside the source/project or packaged executable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Signal indices must be unique and consecutive across all loaded files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Frequency ranges must overlap the .snp simulation grid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Save the starting config before Fleet because optimization can change active assignments</a:t>
            </a:r>
          </a:p>
          <a:p>
            <a:pPr marL="0" indent="0"/>
            <a:r>
              <a:rPr lang="en-US" sz="1500">
                <a:solidFill>
                  <a:srgbClr val="1F2937"/>
                </a:solidFill>
              </a:rPr>
              <a:t>- Re-run Fleet when more confidence is needed in the random subset sweep</a:t>
            </a:r>
          </a:p>
        </p:txBody>
      </p:sp>
      <p:sp>
        <p:nvSpPr>
          <p:cNvPr id="5" name="BOM folders found"/>
          <p:cNvSpPr/>
          <p:nvPr/>
        </p:nvSpPr>
        <p:spPr>
          <a:xfrm>
            <a:off x="5852160" y="1143000"/>
            <a:ext cx="502920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6" name="BOM folders found"/>
          <p:cNvSpPr txBox="1"/>
          <p:nvPr/>
        </p:nvSpPr>
        <p:spPr>
          <a:xfrm>
            <a:off x="6016752" y="1234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[ ] BOM folders found</a:t>
            </a:r>
          </a:p>
        </p:txBody>
      </p:sp>
      <p:sp>
        <p:nvSpPr>
          <p:cNvPr id="7" name="Signals unique"/>
          <p:cNvSpPr/>
          <p:nvPr/>
        </p:nvSpPr>
        <p:spPr>
          <a:xfrm>
            <a:off x="5852160" y="1801368"/>
            <a:ext cx="502920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8" name="Signals unique"/>
          <p:cNvSpPr txBox="1"/>
          <p:nvPr/>
        </p:nvSpPr>
        <p:spPr>
          <a:xfrm>
            <a:off x="6016752" y="18928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[ ] Signals unique</a:t>
            </a:r>
          </a:p>
        </p:txBody>
      </p:sp>
      <p:sp>
        <p:nvSpPr>
          <p:cNvPr id="9" name="Bands overlap data"/>
          <p:cNvSpPr/>
          <p:nvPr/>
        </p:nvSpPr>
        <p:spPr>
          <a:xfrm>
            <a:off x="5852160" y="2459736"/>
            <a:ext cx="502920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0" name="Bands overlap data"/>
          <p:cNvSpPr txBox="1"/>
          <p:nvPr/>
        </p:nvSpPr>
        <p:spPr>
          <a:xfrm>
            <a:off x="6016752" y="255117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[ ] Bands overlap data</a:t>
            </a:r>
          </a:p>
        </p:txBody>
      </p:sp>
      <p:sp>
        <p:nvSpPr>
          <p:cNvPr id="11" name="Config saved"/>
          <p:cNvSpPr/>
          <p:nvPr/>
        </p:nvSpPr>
        <p:spPr>
          <a:xfrm>
            <a:off x="5852160" y="3118104"/>
            <a:ext cx="502920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2" name="Config saved"/>
          <p:cNvSpPr txBox="1"/>
          <p:nvPr/>
        </p:nvSpPr>
        <p:spPr>
          <a:xfrm>
            <a:off x="6016752" y="320954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[ ] Config saved</a:t>
            </a:r>
          </a:p>
        </p:txBody>
      </p:sp>
      <p:sp>
        <p:nvSpPr>
          <p:cNvPr id="13" name="Fleet report reviewed"/>
          <p:cNvSpPr/>
          <p:nvPr/>
        </p:nvSpPr>
        <p:spPr>
          <a:xfrm>
            <a:off x="5852160" y="3776472"/>
            <a:ext cx="502920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</p:sp>
      <p:sp>
        <p:nvSpPr>
          <p:cNvPr id="14" name="Fleet report reviewed"/>
          <p:cNvSpPr txBox="1"/>
          <p:nvPr/>
        </p:nvSpPr>
        <p:spPr>
          <a:xfrm>
            <a:off x="6016752" y="386791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1300" b="1">
                <a:solidFill>
                  <a:srgbClr val="14532D"/>
                </a:solidFill>
              </a:rPr>
              <a:t>[ ] Fleet report reviewed</a:t>
            </a:r>
          </a:p>
        </p:txBody>
      </p:sp>
      <p:sp>
        <p:nvSpPr>
          <p:cNvPr id="900" name="Footer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marL="0" indent="0"/>
            <a:r>
              <a:rPr lang="en-US" sz="800">
                <a:solidFill>
                  <a:srgbClr val="6B7280"/>
                </a:solidFill>
              </a:rPr>
              <a:t>RF Network Cascade Tool operation guide  |  Slide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F Tool Theme">
  <a:themeElements>
    <a:clrScheme name="RF">
      <a:dk1>
        <a:srgbClr val="111827"/>
      </a:dk1>
      <a:lt1>
        <a:srgbClr val="FFFFFF"/>
      </a:lt1>
      <a:dk2>
        <a:srgbClr val="374151"/>
      </a:dk2>
      <a:lt2>
        <a:srgbClr val="F9FAF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/>
  </a:themeElements>
</a:theme>
</file>